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B7C152-54BE-0B11-9E35-998D0ACD4C8A}" v="31" dt="2026-08-16T19:08:55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business decision: these terms overlap, but they do not mean the same thing.</a:t>
            </a:r>
          </a:p>
          <a:p>
            <a:endParaRPr/>
          </a:p>
          <a:p>
            <a:r>
              <a:t>[Sources]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this to personal experience: many workplaces expose SSO and OAuth to users even when the underlying identity architecture includes other standards.</a:t>
            </a:r>
          </a:p>
          <a:p>
            <a:endParaRPr/>
          </a:p>
          <a:p>
            <a:r>
              <a:t>[Sources]</a:t>
            </a:r>
          </a:p>
          <a:p>
            <a:r>
              <a:t>- https://www.rfc-editor.org/rfc/rfc6749.html</a:t>
            </a:r>
          </a:p>
          <a:p>
            <a:r>
              <a:t>- https://openid.net/specs/openid-connect-core-1_0.html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Stress that SSO is an outcome. Federation protocols establish trust between the identity provider and applications.</a:t>
            </a:r>
          </a:p>
          <a:p>
            <a:endParaRPr/>
          </a:p>
          <a:p>
            <a:r>
              <a:t>[Sources]</a:t>
            </a:r>
          </a:p>
          <a:p>
            <a:r>
              <a:t>- https://pages.nist.gov/800-63-4/sp800-63c.html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OAuth answers: what may this client access? Current best practice favors Authorization Code flow with PKCE and exact redirect matching.</a:t>
            </a:r>
          </a:p>
          <a:p>
            <a:endParaRPr/>
          </a:p>
          <a:p>
            <a:r>
              <a:t>[Sources]</a:t>
            </a:r>
          </a:p>
          <a:p>
            <a:r>
              <a:t>- https://www.rfc-editor.org/rfc/rfc6749.html</a:t>
            </a:r>
          </a:p>
          <a:p>
            <a:r>
              <a:t>- https://www.rfc-editor.org/rfc/rfc9700.html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assignment says OpenID. For a modern enterprise recommendation, explain OpenID Connect, the current identity layer built on OAuth 2.0.</a:t>
            </a:r>
          </a:p>
          <a:p>
            <a:endParaRPr/>
          </a:p>
          <a:p>
            <a:r>
              <a:t>[Sources]</a:t>
            </a:r>
          </a:p>
          <a:p>
            <a:r>
              <a:t>- https://openid.net/specs/openid-connect-core-1_0.html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diagram shows the complementary roles: the identity provider supports the SSO experience, OIDC supplies identity, and OAuth protects API access.</a:t>
            </a:r>
          </a:p>
          <a:p>
            <a:endParaRPr/>
          </a:p>
          <a:p>
            <a:r>
              <a:t>[Sources]</a:t>
            </a:r>
          </a:p>
          <a:p>
            <a:r>
              <a:t>- https://www.rfc-editor.org/rfc/rfc6749.html</a:t>
            </a:r>
          </a:p>
          <a:p>
            <a:r>
              <a:t>- https://openid.net/specs/openid-connect-core-1_0.html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table to correct the false choice: these technologies address different decisions.</a:t>
            </a:r>
          </a:p>
          <a:p>
            <a:endParaRPr/>
          </a:p>
          <a:p>
            <a:r>
              <a:t>[Sources]</a:t>
            </a:r>
          </a:p>
          <a:p>
            <a:r>
              <a:t>- https://www.rfc-editor.org/rfc/rfc6749.html</a:t>
            </a:r>
          </a:p>
          <a:p>
            <a:r>
              <a:t>- https://openid.net/specs/openid-connect-core-1_0.html</a:t>
            </a:r>
          </a:p>
          <a:p>
            <a:r>
              <a:t>- https://pages.nist.gov/800-63-4/sp800-63c.html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resolving the original decision: approve a combined, phased architecture rather than selecting only one label.</a:t>
            </a:r>
          </a:p>
          <a:p>
            <a:endParaRPr/>
          </a:p>
          <a:p>
            <a:r>
              <a:t>[Sources]</a:t>
            </a:r>
          </a:p>
          <a:p>
            <a:r>
              <a:t>- https://www.rfc-editor.org/rfc/rfc9700.html</a:t>
            </a:r>
          </a:p>
          <a:p>
            <a:r>
              <a:t>- https://openid.net/specs/openid-connect-core-1_0.html</a:t>
            </a:r>
          </a:p>
          <a:p>
            <a:r>
              <a:t>- https://pages.nist.gov/800-63-4/sp800-63c.html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https://www.rfc-editor.org/rfc/rfc6749.html</a:t>
            </a:r>
          </a:p>
          <a:p>
            <a:r>
              <a:t>- https://www.rfc-editor.org/rfc/rfc9700.html</a:t>
            </a:r>
          </a:p>
          <a:p>
            <a:r>
              <a:t>- https://openid.net/specs/openid-connect-core-1_0.html</a:t>
            </a:r>
          </a:p>
          <a:p>
            <a:r>
              <a:t>- https://pages.nist.gov/800-63-4/sp800-63c.html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DBBCA9-2C9F-4C31-A8D4-7CFFDE75EFED}"/>
              </a:ext>
            </a:extLst>
          </p:cNvPr>
          <p:cNvSpPr>
            <a:spLocks noGrp="1"/>
          </p:cNvSpPr>
          <p:nvPr/>
        </p:nvSpPr>
        <p:spPr>
          <a:xfrm>
            <a:off x="495300" y="4381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>
            <a:normAutofit/>
          </a:bodyPr>
          <a:lstStyle/>
          <a:p>
            <a:pPr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en-GB"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MODULE</a:t>
            </a: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 1.2</a:t>
            </a:r>
            <a:r>
              <a:rPr lang="en-GB" sz="16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 Assignment </a:t>
            </a:r>
            <a:endParaRPr sz="165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deck-title">
            <a:extLst>
              <a:ext uri="{FF2B5EF4-FFF2-40B4-BE49-F238E27FC236}">
                <a16:creationId xmlns:a16="http://schemas.microsoft.com/office/drawing/2014/main" id="{EBB14A89-93A0-4C25-98C3-940579EA3FA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8572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Authentication</a:t>
            </a:r>
          </a:p>
          <a:p>
            <a:pPr algn="l">
              <a:defRPr sz="5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and Authorization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01A559-B585-460F-A9CB-1BAB3D1E0B0D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857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Evaluating SSO, OAuth 2.0, and OpenID Connect for Mesusa Corporation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B8F372-A892-4785-B509-B785E59DDD69}"/>
              </a:ext>
            </a:extLst>
          </p:cNvPr>
          <p:cNvSpPr>
            <a:spLocks noGrp="1"/>
          </p:cNvSpPr>
          <p:nvPr/>
        </p:nvSpPr>
        <p:spPr>
          <a:xfrm>
            <a:off x="495300" y="53530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Sam Dirr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A82575-C62D-4A9C-BD1E-0F9374B97707}"/>
              </a:ext>
            </a:extLst>
          </p:cNvPr>
          <p:cNvSpPr>
            <a:spLocks noGrp="1"/>
          </p:cNvSpPr>
          <p:nvPr/>
        </p:nvSpPr>
        <p:spPr>
          <a:xfrm>
            <a:off x="495300" y="57150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>
            <a:normAutofit fontScale="94444" lnSpcReduction="10000"/>
          </a:bodyPr>
          <a:lstStyle/>
          <a:p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lang="en-US">
                <a:solidFill>
                  <a:srgbClr val="4B5563"/>
                </a:solidFill>
                <a:latin typeface="Arial"/>
                <a:ea typeface="Arial"/>
                <a:cs typeface="Arial"/>
              </a:rPr>
              <a:t>CSD-370 Secure</a:t>
            </a:r>
            <a:r>
              <a:rPr sz="1350" b="0" dirty="0">
                <a:solidFill>
                  <a:srgbClr val="4B5563"/>
                </a:solidFill>
                <a:latin typeface="Arial"/>
                <a:ea typeface="Arial"/>
                <a:cs typeface="Arial"/>
              </a:rPr>
              <a:t> Software Development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8D2E3A-1069-4439-AFF9-4DCF76483BDF}"/>
              </a:ext>
            </a:extLst>
          </p:cNvPr>
          <p:cNvSpPr>
            <a:spLocks noGrp="1"/>
          </p:cNvSpPr>
          <p:nvPr/>
        </p:nvSpPr>
        <p:spPr>
          <a:xfrm>
            <a:off x="9620250" y="762000"/>
            <a:ext cx="1619250" cy="4953000"/>
          </a:xfrm>
          <a:prstGeom prst="rect">
            <a:avLst/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88240-36E8-444D-8CA9-0F2B25800C0E}"/>
              </a:ext>
            </a:extLst>
          </p:cNvPr>
          <p:cNvSpPr>
            <a:spLocks noGrp="1"/>
          </p:cNvSpPr>
          <p:nvPr/>
        </p:nvSpPr>
        <p:spPr>
          <a:xfrm>
            <a:off x="10001250" y="1238250"/>
            <a:ext cx="857250" cy="857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4C259-B676-4C3F-82BF-AB179EEC6EA8}"/>
              </a:ext>
            </a:extLst>
          </p:cNvPr>
          <p:cNvSpPr>
            <a:spLocks noGrp="1"/>
          </p:cNvSpPr>
          <p:nvPr/>
        </p:nvSpPr>
        <p:spPr>
          <a:xfrm>
            <a:off x="10001250" y="2524125"/>
            <a:ext cx="857250" cy="85725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7BAC39-EFBC-491B-AE64-A194F1BA9C5B}"/>
              </a:ext>
            </a:extLst>
          </p:cNvPr>
          <p:cNvSpPr>
            <a:spLocks noGrp="1"/>
          </p:cNvSpPr>
          <p:nvPr/>
        </p:nvSpPr>
        <p:spPr>
          <a:xfrm>
            <a:off x="10001250" y="3810000"/>
            <a:ext cx="857250" cy="857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882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2-title">
            <a:extLst>
              <a:ext uri="{FF2B5EF4-FFF2-40B4-BE49-F238E27FC236}">
                <a16:creationId xmlns:a16="http://schemas.microsoft.com/office/drawing/2014/main" id="{AA53E615-A907-439C-9B56-00484B15363E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SSO, OAuth, and OIDC solve different identity problems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B15892-03A1-40E5-B03C-3203F55B2EE2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17586F-2C6A-4CAC-88A1-79E462B8C795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E7FEF-5632-480C-88FA-14D0444DC68E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 common real-world pattern is to combine SSO and OAuth—not choose only one.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326766-7E9D-49ED-814E-A4584CCE6FA6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3429000" cy="304800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3BE6D-2F33-453F-BB07-BEC7CEC508EA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3429000" cy="1143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B79146-89BD-4AB6-9953-35999BB334E4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SSO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398928-6E75-41A2-9773-B361D076FACE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DD1421-98CE-4CB1-B78D-AAFC96B445F3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2952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sign-in provides access to multiple approved applications.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3EF6BF-C812-41C1-BC86-E2565E86D83E}"/>
              </a:ext>
            </a:extLst>
          </p:cNvPr>
          <p:cNvSpPr>
            <a:spLocks noGrp="1"/>
          </p:cNvSpPr>
          <p:nvPr/>
        </p:nvSpPr>
        <p:spPr>
          <a:xfrm>
            <a:off x="4276725" y="2143125"/>
            <a:ext cx="3429000" cy="304800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233BCC-406B-478C-83A3-FDD496CE41C2}"/>
              </a:ext>
            </a:extLst>
          </p:cNvPr>
          <p:cNvSpPr>
            <a:spLocks noGrp="1"/>
          </p:cNvSpPr>
          <p:nvPr/>
        </p:nvSpPr>
        <p:spPr>
          <a:xfrm>
            <a:off x="4276725" y="2143125"/>
            <a:ext cx="3429000" cy="11430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4EE724-1596-4D73-82D5-1DE2E0F4C062}"/>
              </a:ext>
            </a:extLst>
          </p:cNvPr>
          <p:cNvSpPr>
            <a:spLocks noGrp="1"/>
          </p:cNvSpPr>
          <p:nvPr/>
        </p:nvSpPr>
        <p:spPr>
          <a:xfrm>
            <a:off x="4505325" y="24765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OAuth 2.0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64318-E4C4-4F91-99A1-A38F12E9BEF1}"/>
              </a:ext>
            </a:extLst>
          </p:cNvPr>
          <p:cNvSpPr>
            <a:spLocks noGrp="1"/>
          </p:cNvSpPr>
          <p:nvPr/>
        </p:nvSpPr>
        <p:spPr>
          <a:xfrm>
            <a:off x="4505325" y="30480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B33716-5F02-4FB9-945D-FDE08A90B780}"/>
              </a:ext>
            </a:extLst>
          </p:cNvPr>
          <p:cNvSpPr>
            <a:spLocks noGrp="1"/>
          </p:cNvSpPr>
          <p:nvPr/>
        </p:nvSpPr>
        <p:spPr>
          <a:xfrm>
            <a:off x="4505325" y="3543300"/>
            <a:ext cx="2952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user or system grants limited access to a protected resource.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D8052B-BE90-4E91-ABB8-C33FA8241C5C}"/>
              </a:ext>
            </a:extLst>
          </p:cNvPr>
          <p:cNvSpPr>
            <a:spLocks noGrp="1"/>
          </p:cNvSpPr>
          <p:nvPr/>
        </p:nvSpPr>
        <p:spPr>
          <a:xfrm>
            <a:off x="8058150" y="2143125"/>
            <a:ext cx="3429000" cy="304800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F3E599-3ECE-4454-900F-94E1CDEACC84}"/>
              </a:ext>
            </a:extLst>
          </p:cNvPr>
          <p:cNvSpPr>
            <a:spLocks noGrp="1"/>
          </p:cNvSpPr>
          <p:nvPr/>
        </p:nvSpPr>
        <p:spPr>
          <a:xfrm>
            <a:off x="8058150" y="2143125"/>
            <a:ext cx="3429000" cy="1143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B0E206-578E-4A38-9DE1-95B707B39E12}"/>
              </a:ext>
            </a:extLst>
          </p:cNvPr>
          <p:cNvSpPr>
            <a:spLocks noGrp="1"/>
          </p:cNvSpPr>
          <p:nvPr/>
        </p:nvSpPr>
        <p:spPr>
          <a:xfrm>
            <a:off x="8286750" y="24765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OpenID Connect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824B24-553D-4626-8D4C-B398B11CC883}"/>
              </a:ext>
            </a:extLst>
          </p:cNvPr>
          <p:cNvSpPr>
            <a:spLocks noGrp="1"/>
          </p:cNvSpPr>
          <p:nvPr/>
        </p:nvSpPr>
        <p:spPr>
          <a:xfrm>
            <a:off x="8286750" y="304800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3333"/>
          </a:bodyPr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8CFA6D-03F4-4561-8DF0-52B5E9B9614A}"/>
              </a:ext>
            </a:extLst>
          </p:cNvPr>
          <p:cNvSpPr>
            <a:spLocks noGrp="1"/>
          </p:cNvSpPr>
          <p:nvPr/>
        </p:nvSpPr>
        <p:spPr>
          <a:xfrm>
            <a:off x="8286750" y="3543300"/>
            <a:ext cx="2952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 identity layer on OAuth 2.0 verifies who the user is.</a:t>
            </a:r>
          </a:p>
        </p:txBody>
      </p:sp>
    </p:spTree>
    <p:extLst>
      <p:ext uri="{BB962C8B-B14F-4D97-AF65-F5344CB8AC3E}">
        <p14:creationId xmlns:p14="http://schemas.microsoft.com/office/powerpoint/2010/main" val="3952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3-title">
            <a:extLst>
              <a:ext uri="{FF2B5EF4-FFF2-40B4-BE49-F238E27FC236}">
                <a16:creationId xmlns:a16="http://schemas.microsoft.com/office/drawing/2014/main" id="{A3B864EE-3AF3-4358-A8F9-50D922352215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165"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SSO simplifies access by centralizing the sign-in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D85F63-4F24-4F9E-B231-8200B1837DFF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56E6D-F692-45FA-B92C-90AC120F155D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4B118B-9D3C-47B6-98D0-ACA10709BAF7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5286375" cy="14287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3DD701-8337-4F24-90F0-7007BB31FCB4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6200" cy="1428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9CB4E-2396-4A60-9A27-C4E0DEF19A9A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What it 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D9B05-EA53-4309-B8E9-348DD0D3368C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4810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 session and trust model that lets one successful login unlock multiple connected applications.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4E6C3A-6B00-40A7-98AE-83A97F376F6C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5286375" cy="247650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C4588-9E4F-4C63-8BED-F9C58EC1AE85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76200" cy="2476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C1AEDF-F19D-4B4D-9110-6D09AAC830E4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D10A9D-AF73-4837-9EA3-EB90B2B98BA9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481012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an identity provider; inventory apps; configure federation (often SAML or OIDC); map users and groups; require MFA; test login, logout, and recovery.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81F8D4-F788-4105-9F93-97C9FA87BCD4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6483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DB14BF-195E-432C-80FC-CB533B01E66F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76200" cy="1952625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2FDBEE-F654-4C95-B5FB-0B55B19E363D}"/>
              </a:ext>
            </a:extLst>
          </p:cNvPr>
          <p:cNvSpPr>
            <a:spLocks noGrp="1"/>
          </p:cNvSpPr>
          <p:nvPr/>
        </p:nvSpPr>
        <p:spPr>
          <a:xfrm>
            <a:off x="6296025" y="1714500"/>
            <a:ext cx="5210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Advantages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274961-198F-4C62-95D5-79E0248C85F4}"/>
              </a:ext>
            </a:extLst>
          </p:cNvPr>
          <p:cNvSpPr>
            <a:spLocks noGrp="1"/>
          </p:cNvSpPr>
          <p:nvPr/>
        </p:nvSpPr>
        <p:spPr>
          <a:xfrm>
            <a:off x="6296025" y="2152650"/>
            <a:ext cx="5172075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Fewer passwords and login prompts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Centralized onboarding and offboarding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Consistent MFA and access policies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Better user experience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30A7961-5010-44B0-9DDB-F2B562CF93B5}"/>
              </a:ext>
            </a:extLst>
          </p:cNvPr>
          <p:cNvSpPr>
            <a:spLocks noGrp="1"/>
          </p:cNvSpPr>
          <p:nvPr/>
        </p:nvSpPr>
        <p:spPr>
          <a:xfrm>
            <a:off x="6048375" y="3667125"/>
            <a:ext cx="56483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B42AEE-9817-4B27-ADCF-5ECA539961F0}"/>
              </a:ext>
            </a:extLst>
          </p:cNvPr>
          <p:cNvSpPr>
            <a:spLocks noGrp="1"/>
          </p:cNvSpPr>
          <p:nvPr/>
        </p:nvSpPr>
        <p:spPr>
          <a:xfrm>
            <a:off x="6048375" y="3667125"/>
            <a:ext cx="76200" cy="1952625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2B802C-37F4-4C51-BAE3-D00A0627A308}"/>
              </a:ext>
            </a:extLst>
          </p:cNvPr>
          <p:cNvSpPr>
            <a:spLocks noGrp="1"/>
          </p:cNvSpPr>
          <p:nvPr/>
        </p:nvSpPr>
        <p:spPr>
          <a:xfrm>
            <a:off x="6296025" y="3857625"/>
            <a:ext cx="5210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Disadvantages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70EA18-CF21-42EB-8FF1-99E8332C70C7}"/>
              </a:ext>
            </a:extLst>
          </p:cNvPr>
          <p:cNvSpPr>
            <a:spLocks noGrp="1"/>
          </p:cNvSpPr>
          <p:nvPr/>
        </p:nvSpPr>
        <p:spPr>
          <a:xfrm>
            <a:off x="6296025" y="4295775"/>
            <a:ext cx="5172075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Identity-provider outage affects many apps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 compromised account has broad reach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Legacy applications may need custom integration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Migration and governance require planning</a:t>
            </a:r>
          </a:p>
        </p:txBody>
      </p:sp>
    </p:spTree>
    <p:extLst>
      <p:ext uri="{BB962C8B-B14F-4D97-AF65-F5344CB8AC3E}">
        <p14:creationId xmlns:p14="http://schemas.microsoft.com/office/powerpoint/2010/main" val="874344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4-title">
            <a:extLst>
              <a:ext uri="{FF2B5EF4-FFF2-40B4-BE49-F238E27FC236}">
                <a16:creationId xmlns:a16="http://schemas.microsoft.com/office/drawing/2014/main" id="{C2CB1356-5C23-4B40-90F0-65F3DF79BA0B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OAuth 2.0 delegates access without sharing passwords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B5A67F-BD70-4D22-951A-63EE7726A16D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FDDED6-CA70-4F8D-A896-D2860E825F48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E69E7B-7B53-48EC-A844-60B89A1AED31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5286375" cy="14287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9D8433-BFC7-437C-A39C-C36CA1DAE439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6200" cy="142875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C7C30-9F9B-46EB-889F-57E7838567A6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What it 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69EEBB-DCB2-4150-96D7-C3ED63969F64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4810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 authorization framework. It issues access tokens so a client can call a protected API within approved scopes.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D2FCB2-A7F4-4C01-B8DE-E5C5B815A86C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5286375" cy="247650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25CB52-E1EC-4B95-83CF-169C0F8EBE7E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76200" cy="247650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820C03-B702-4E94-8CB3-5E00235638F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CB1AFC-C3FD-4BA4-A9DB-FD4C62E388EE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481012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Register each client; define redirect URIs and scopes; use Authorization Code flow with PKCE; validate tokens at APIs; protect secrets and refresh tokens; monitor consent and revocation.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78098D-7D63-4CC2-B7F7-21CEE2E48A4E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6483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3F00E-93C8-4D6B-9A0B-BDC21469D2B6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76200" cy="1952625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B9BB7F-CB40-448B-A322-C3EBF51F3563}"/>
              </a:ext>
            </a:extLst>
          </p:cNvPr>
          <p:cNvSpPr>
            <a:spLocks noGrp="1"/>
          </p:cNvSpPr>
          <p:nvPr/>
        </p:nvSpPr>
        <p:spPr>
          <a:xfrm>
            <a:off x="6296025" y="1714500"/>
            <a:ext cx="5210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Advantages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28E96E-5A94-43E2-967D-5215C0402954}"/>
              </a:ext>
            </a:extLst>
          </p:cNvPr>
          <p:cNvSpPr>
            <a:spLocks noGrp="1"/>
          </p:cNvSpPr>
          <p:nvPr/>
        </p:nvSpPr>
        <p:spPr>
          <a:xfrm>
            <a:off x="6296025" y="2152650"/>
            <a:ext cx="5172075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Passwords are not shared with client apps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Access can be limited by scope and time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Supports web, mobile, and API ecosystems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Tokens can be revoked or rotated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EA05AE-88F5-4014-9E5D-4989AE95000E}"/>
              </a:ext>
            </a:extLst>
          </p:cNvPr>
          <p:cNvSpPr>
            <a:spLocks noGrp="1"/>
          </p:cNvSpPr>
          <p:nvPr/>
        </p:nvSpPr>
        <p:spPr>
          <a:xfrm>
            <a:off x="6048375" y="3667125"/>
            <a:ext cx="56483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495012-E5AD-494E-B0EB-5983F329EAA0}"/>
              </a:ext>
            </a:extLst>
          </p:cNvPr>
          <p:cNvSpPr>
            <a:spLocks noGrp="1"/>
          </p:cNvSpPr>
          <p:nvPr/>
        </p:nvSpPr>
        <p:spPr>
          <a:xfrm>
            <a:off x="6048375" y="3667125"/>
            <a:ext cx="76200" cy="1952625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243CC-25AA-4877-ACA3-F318C4A3A557}"/>
              </a:ext>
            </a:extLst>
          </p:cNvPr>
          <p:cNvSpPr>
            <a:spLocks noGrp="1"/>
          </p:cNvSpPr>
          <p:nvPr/>
        </p:nvSpPr>
        <p:spPr>
          <a:xfrm>
            <a:off x="6296025" y="3857625"/>
            <a:ext cx="5210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Disadvantages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05687F-0E3A-416B-99E9-82D55F0D52EB}"/>
              </a:ext>
            </a:extLst>
          </p:cNvPr>
          <p:cNvSpPr>
            <a:spLocks noGrp="1"/>
          </p:cNvSpPr>
          <p:nvPr/>
        </p:nvSpPr>
        <p:spPr>
          <a:xfrm>
            <a:off x="6296025" y="4295775"/>
            <a:ext cx="5172075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Easy to misconfigure redirects or scopes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Token theft can expose protected APIs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Consent screens can confuse users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OAuth alone does not prove identity</a:t>
            </a:r>
          </a:p>
        </p:txBody>
      </p:sp>
    </p:spTree>
    <p:extLst>
      <p:ext uri="{BB962C8B-B14F-4D97-AF65-F5344CB8AC3E}">
        <p14:creationId xmlns:p14="http://schemas.microsoft.com/office/powerpoint/2010/main" val="1006562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5-title">
            <a:extLst>
              <a:ext uri="{FF2B5EF4-FFF2-40B4-BE49-F238E27FC236}">
                <a16:creationId xmlns:a16="http://schemas.microsoft.com/office/drawing/2014/main" id="{1AF090EE-4909-4CB5-A954-3F031C1B77E0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OpenID Connect standardizes modern authentication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F9FDEC-A4C7-4012-8E16-D2C616CBAB93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F81FF0-75C4-4DC2-8612-27B3E41F33EC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86B239-9E00-4EC9-957A-D937EA6BCCD6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5286375" cy="14287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80033C-337A-404E-8548-A1C7604EF8CA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76200" cy="14287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672356-5BB7-4A47-89CF-A0EF6B7C1F89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What it 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61500-EFF3-4338-99AD-40DFEDF0FBBE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4810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 identity layer that returns a signed ID token with claims about the authenticated user.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2D945B-7C60-4505-A6F8-55FF9495503D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5286375" cy="247650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577D61-45E4-40B3-8435-C0D4E06D1A3E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76200" cy="24765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F29FD8-5A22-45EB-85D2-A9A6A6031F26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1EDBD-BC99-457D-97FE-2939AF91B4AB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481012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an OpenID Provider; register redirects; request the openid scope; validate issuer, audience, signature, expiration, state, and nonce; map claims to roles.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A888C8-AAAF-4CCC-A09E-F961F9180A16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56483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1AE3F0-C9D4-4A7C-9608-8ACB9A8D25B9}"/>
              </a:ext>
            </a:extLst>
          </p:cNvPr>
          <p:cNvSpPr>
            <a:spLocks noGrp="1"/>
          </p:cNvSpPr>
          <p:nvPr/>
        </p:nvSpPr>
        <p:spPr>
          <a:xfrm>
            <a:off x="6048375" y="1524000"/>
            <a:ext cx="76200" cy="1952625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B4B398-2F7C-461F-A734-2E7B29D1CC00}"/>
              </a:ext>
            </a:extLst>
          </p:cNvPr>
          <p:cNvSpPr>
            <a:spLocks noGrp="1"/>
          </p:cNvSpPr>
          <p:nvPr/>
        </p:nvSpPr>
        <p:spPr>
          <a:xfrm>
            <a:off x="6296025" y="1714500"/>
            <a:ext cx="5210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Advantages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F45B29-BBDB-48A5-A4CA-626DE16DEFE4}"/>
              </a:ext>
            </a:extLst>
          </p:cNvPr>
          <p:cNvSpPr>
            <a:spLocks noGrp="1"/>
          </p:cNvSpPr>
          <p:nvPr/>
        </p:nvSpPr>
        <p:spPr>
          <a:xfrm>
            <a:off x="6296025" y="2152650"/>
            <a:ext cx="5172075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Standardized sign-in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Works with OAuth delegation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Signed identity claims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Interoperable modern clients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CD19A4-97D2-418C-B95B-B3744012817A}"/>
              </a:ext>
            </a:extLst>
          </p:cNvPr>
          <p:cNvSpPr>
            <a:spLocks noGrp="1"/>
          </p:cNvSpPr>
          <p:nvPr/>
        </p:nvSpPr>
        <p:spPr>
          <a:xfrm>
            <a:off x="6048375" y="3667125"/>
            <a:ext cx="5648325" cy="1952625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2CDF17-82A2-4E8F-9CEC-ABF9C3CBC67D}"/>
              </a:ext>
            </a:extLst>
          </p:cNvPr>
          <p:cNvSpPr>
            <a:spLocks noGrp="1"/>
          </p:cNvSpPr>
          <p:nvPr/>
        </p:nvSpPr>
        <p:spPr>
          <a:xfrm>
            <a:off x="6048375" y="3667125"/>
            <a:ext cx="76200" cy="1952625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01EE3D-E5EB-42AE-8E56-5AC05CE8441C}"/>
              </a:ext>
            </a:extLst>
          </p:cNvPr>
          <p:cNvSpPr>
            <a:spLocks noGrp="1"/>
          </p:cNvSpPr>
          <p:nvPr/>
        </p:nvSpPr>
        <p:spPr>
          <a:xfrm>
            <a:off x="6296025" y="3857625"/>
            <a:ext cx="52101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722"/>
          </a:bodyPr>
          <a:lstStyle/>
          <a:p>
            <a:pPr algn="l">
              <a:defRPr sz="18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Disadvantages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36BAB8-6D3C-42F1-B700-DB345EB8ACC3}"/>
              </a:ext>
            </a:extLst>
          </p:cNvPr>
          <p:cNvSpPr>
            <a:spLocks noGrp="1"/>
          </p:cNvSpPr>
          <p:nvPr/>
        </p:nvSpPr>
        <p:spPr>
          <a:xfrm>
            <a:off x="6296025" y="4295775"/>
            <a:ext cx="5172075" cy="117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Exact token validation required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Claims can expose personal data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Logout behavior varies</a:t>
            </a:r>
          </a:p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• Legacy apps may lack support</a:t>
            </a:r>
          </a:p>
        </p:txBody>
      </p:sp>
    </p:spTree>
    <p:extLst>
      <p:ext uri="{BB962C8B-B14F-4D97-AF65-F5344CB8AC3E}">
        <p14:creationId xmlns:p14="http://schemas.microsoft.com/office/powerpoint/2010/main" val="5264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6-title">
            <a:extLst>
              <a:ext uri="{FF2B5EF4-FFF2-40B4-BE49-F238E27FC236}">
                <a16:creationId xmlns:a16="http://schemas.microsoft.com/office/drawing/2014/main" id="{E0AC00EA-E7FC-4EB3-BCAD-5BF41194BA1A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combined design gives Mesusa one secure identity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ADFCAE-DEF9-4341-903E-B702CDCDB258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260A94-005C-4BFB-9C34-7A746F1CED9E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652CC8-90C9-4A7E-BF49-9C8E6AE20471}"/>
              </a:ext>
            </a:extLst>
          </p:cNvPr>
          <p:cNvSpPr>
            <a:spLocks noGrp="1"/>
          </p:cNvSpPr>
          <p:nvPr/>
        </p:nvSpPr>
        <p:spPr>
          <a:xfrm>
            <a:off x="619125" y="2905125"/>
            <a:ext cx="171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36961E-A540-4AE6-B957-BEC7257E85FF}"/>
              </a:ext>
            </a:extLst>
          </p:cNvPr>
          <p:cNvSpPr>
            <a:spLocks noGrp="1"/>
          </p:cNvSpPr>
          <p:nvPr/>
        </p:nvSpPr>
        <p:spPr>
          <a:xfrm>
            <a:off x="2571750" y="2238375"/>
            <a:ext cx="2381250" cy="180975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CB707-F611-42DA-9EAA-D7B7749549DF}"/>
              </a:ext>
            </a:extLst>
          </p:cNvPr>
          <p:cNvSpPr>
            <a:spLocks noGrp="1"/>
          </p:cNvSpPr>
          <p:nvPr/>
        </p:nvSpPr>
        <p:spPr>
          <a:xfrm>
            <a:off x="2809875" y="2571750"/>
            <a:ext cx="190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424"/>
          </a:bodyPr>
          <a:lstStyle/>
          <a:p>
            <a:pPr algn="ctr">
              <a:defRPr sz="20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Identity provider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5A6C8E-53D2-4B33-8DA8-85852852627F}"/>
              </a:ext>
            </a:extLst>
          </p:cNvPr>
          <p:cNvSpPr>
            <a:spLocks noGrp="1"/>
          </p:cNvSpPr>
          <p:nvPr/>
        </p:nvSpPr>
        <p:spPr>
          <a:xfrm>
            <a:off x="2809875" y="31432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MFA • policies • session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E09EDE-9E7E-403D-B212-0D86222AE657}"/>
              </a:ext>
            </a:extLst>
          </p:cNvPr>
          <p:cNvSpPr>
            <a:spLocks noGrp="1"/>
          </p:cNvSpPr>
          <p:nvPr/>
        </p:nvSpPr>
        <p:spPr>
          <a:xfrm>
            <a:off x="5572125" y="1619250"/>
            <a:ext cx="2476500" cy="123825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FB95DB-26DF-49A7-9DAE-22BAF7C8C2E8}"/>
              </a:ext>
            </a:extLst>
          </p:cNvPr>
          <p:cNvSpPr>
            <a:spLocks noGrp="1"/>
          </p:cNvSpPr>
          <p:nvPr/>
        </p:nvSpPr>
        <p:spPr>
          <a:xfrm>
            <a:off x="5762625" y="18669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33"/>
          </a:bodyPr>
          <a:lstStyle/>
          <a:p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OpenID Connect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2B177-637D-46F5-BD5A-EC3312C6F0C2}"/>
              </a:ext>
            </a:extLst>
          </p:cNvPr>
          <p:cNvSpPr>
            <a:spLocks noGrp="1"/>
          </p:cNvSpPr>
          <p:nvPr/>
        </p:nvSpPr>
        <p:spPr>
          <a:xfrm>
            <a:off x="5762625" y="23050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Identity / ID token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0C874A-39C3-4247-96A4-3A1ED303B3A3}"/>
              </a:ext>
            </a:extLst>
          </p:cNvPr>
          <p:cNvSpPr>
            <a:spLocks noGrp="1"/>
          </p:cNvSpPr>
          <p:nvPr/>
        </p:nvSpPr>
        <p:spPr>
          <a:xfrm>
            <a:off x="5572125" y="3429000"/>
            <a:ext cx="2476500" cy="123825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06E59-2B48-4CFB-BDDC-995F3C687338}"/>
              </a:ext>
            </a:extLst>
          </p:cNvPr>
          <p:cNvSpPr>
            <a:spLocks noGrp="1"/>
          </p:cNvSpPr>
          <p:nvPr/>
        </p:nvSpPr>
        <p:spPr>
          <a:xfrm>
            <a:off x="5762625" y="3676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333"/>
          </a:bodyPr>
          <a:lstStyle/>
          <a:p>
            <a:pPr algn="ctr">
              <a:defRPr sz="1875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OAuth 2.0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80D64C-27B9-4A84-BC47-3CB367CD0F96}"/>
              </a:ext>
            </a:extLst>
          </p:cNvPr>
          <p:cNvSpPr>
            <a:spLocks noGrp="1"/>
          </p:cNvSpPr>
          <p:nvPr/>
        </p:nvSpPr>
        <p:spPr>
          <a:xfrm>
            <a:off x="5762625" y="4114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API access / access token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C745E3-C6D3-4E14-9E14-9FE9CE1438AF}"/>
              </a:ext>
            </a:extLst>
          </p:cNvPr>
          <p:cNvSpPr>
            <a:spLocks noGrp="1"/>
          </p:cNvSpPr>
          <p:nvPr/>
        </p:nvSpPr>
        <p:spPr>
          <a:xfrm>
            <a:off x="8763000" y="2238375"/>
            <a:ext cx="2571750" cy="180975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E0B440-86A4-4213-8649-F7B21353A110}"/>
              </a:ext>
            </a:extLst>
          </p:cNvPr>
          <p:cNvSpPr>
            <a:spLocks noGrp="1"/>
          </p:cNvSpPr>
          <p:nvPr/>
        </p:nvSpPr>
        <p:spPr>
          <a:xfrm>
            <a:off x="9001125" y="2571750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960"/>
          </a:bodyPr>
          <a:lstStyle/>
          <a:p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Mesusa applications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6DB49B-EAB4-4CFC-82EE-F768A61E98EC}"/>
              </a:ext>
            </a:extLst>
          </p:cNvPr>
          <p:cNvSpPr>
            <a:spLocks noGrp="1"/>
          </p:cNvSpPr>
          <p:nvPr/>
        </p:nvSpPr>
        <p:spPr>
          <a:xfrm>
            <a:off x="9001125" y="31432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Web apps • mobile apps</a:t>
            </a:r>
          </a:p>
          <a:p>
            <a:pPr algn="ctr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APIs • cloud 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DBC039-A97F-4831-912F-EC3D3028665D}"/>
              </a:ext>
            </a:extLst>
          </p:cNvPr>
          <p:cNvSpPr>
            <a:spLocks noGrp="1"/>
          </p:cNvSpPr>
          <p:nvPr/>
        </p:nvSpPr>
        <p:spPr>
          <a:xfrm>
            <a:off x="2571750" y="5095875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SSO experience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4B9AC3-5F21-49BD-8B7D-63B46C617CC5}"/>
              </a:ext>
            </a:extLst>
          </p:cNvPr>
          <p:cNvSpPr>
            <a:spLocks noGrp="1"/>
          </p:cNvSpPr>
          <p:nvPr/>
        </p:nvSpPr>
        <p:spPr>
          <a:xfrm>
            <a:off x="2143125" y="2857500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013"/>
          </a:bodyPr>
          <a:lstStyle/>
          <a:p>
            <a:pPr algn="l"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E483B8-5B27-43FF-A86E-19F530D0542D}"/>
              </a:ext>
            </a:extLst>
          </p:cNvPr>
          <p:cNvSpPr>
            <a:spLocks noGrp="1"/>
          </p:cNvSpPr>
          <p:nvPr/>
        </p:nvSpPr>
        <p:spPr>
          <a:xfrm>
            <a:off x="5048250" y="2476500"/>
            <a:ext cx="42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722"/>
          </a:bodyPr>
          <a:lstStyle/>
          <a:p>
            <a: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6D6F6-C4E1-437E-834B-03F57605F8CB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42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722"/>
          </a:bodyPr>
          <a:lstStyle/>
          <a:p>
            <a: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EFBDB9-8803-4033-8231-9CBE82ABF55A}"/>
              </a:ext>
            </a:extLst>
          </p:cNvPr>
          <p:cNvSpPr>
            <a:spLocks noGrp="1"/>
          </p:cNvSpPr>
          <p:nvPr/>
        </p:nvSpPr>
        <p:spPr>
          <a:xfrm>
            <a:off x="5048250" y="3810000"/>
            <a:ext cx="42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722"/>
          </a:bodyPr>
          <a:lstStyle/>
          <a:p>
            <a:pPr algn="l">
              <a:defRPr sz="25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6DD201-C119-4FFD-89E2-A331143C118B}"/>
              </a:ext>
            </a:extLst>
          </p:cNvPr>
          <p:cNvSpPr>
            <a:spLocks noGrp="1"/>
          </p:cNvSpPr>
          <p:nvPr/>
        </p:nvSpPr>
        <p:spPr>
          <a:xfrm>
            <a:off x="8143875" y="3810000"/>
            <a:ext cx="428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722"/>
          </a:bodyPr>
          <a:lstStyle/>
          <a:p>
            <a:pPr algn="l">
              <a:defRPr sz="255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95942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-7-title">
            <a:extLst>
              <a:ext uri="{FF2B5EF4-FFF2-40B4-BE49-F238E27FC236}">
                <a16:creationId xmlns:a16="http://schemas.microsoft.com/office/drawing/2014/main" id="{27B850D5-EDEC-4BA2-A543-556FEF9257D1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best choice depends on the question Mesusa is asking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277A7A-869D-4A07-8861-4676CD12609B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ABA48-13A7-4BDF-8783-3382122394D3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4FC4B8-F26D-4FB2-B34B-17349A6ECA31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2362200" cy="57150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93396-359F-4B9B-8C2C-7DB548A218A2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2133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factor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9F10EE-1E7D-446D-8FEE-0687D0830779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2952750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50BDDE-2429-40CA-8D64-B90086CC2CF1}"/>
              </a:ext>
            </a:extLst>
          </p:cNvPr>
          <p:cNvSpPr>
            <a:spLocks noGrp="1"/>
          </p:cNvSpPr>
          <p:nvPr/>
        </p:nvSpPr>
        <p:spPr>
          <a:xfrm>
            <a:off x="2971800" y="1666875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SSO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5F134D-4002-41BF-B868-9DE7E374A4F6}"/>
              </a:ext>
            </a:extLst>
          </p:cNvPr>
          <p:cNvSpPr>
            <a:spLocks noGrp="1"/>
          </p:cNvSpPr>
          <p:nvPr/>
        </p:nvSpPr>
        <p:spPr>
          <a:xfrm>
            <a:off x="5810250" y="1524000"/>
            <a:ext cx="2952750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8274B7-B45C-4DE5-9A82-B67C0DAF695B}"/>
              </a:ext>
            </a:extLst>
          </p:cNvPr>
          <p:cNvSpPr>
            <a:spLocks noGrp="1"/>
          </p:cNvSpPr>
          <p:nvPr/>
        </p:nvSpPr>
        <p:spPr>
          <a:xfrm>
            <a:off x="5924550" y="1666875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OAuth 2.0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4FA05E-C64B-4963-A508-08C10960D377}"/>
              </a:ext>
            </a:extLst>
          </p:cNvPr>
          <p:cNvSpPr>
            <a:spLocks noGrp="1"/>
          </p:cNvSpPr>
          <p:nvPr/>
        </p:nvSpPr>
        <p:spPr>
          <a:xfrm>
            <a:off x="8763000" y="1524000"/>
            <a:ext cx="2933700" cy="571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05C604-FBFE-42DF-946D-A16AB7049403}"/>
              </a:ext>
            </a:extLst>
          </p:cNvPr>
          <p:cNvSpPr>
            <a:spLocks noGrp="1"/>
          </p:cNvSpPr>
          <p:nvPr/>
        </p:nvSpPr>
        <p:spPr>
          <a:xfrm>
            <a:off x="8877300" y="1666875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246"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OpenID Connect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3D9D2-8ADF-4808-B2FC-FC496031F80A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23622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AB38B2-E713-4B93-944E-03D0E765BB0A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Primary purpose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716EBF-90E7-4158-9523-9228E4984931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29527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CCE654-22B5-4255-800C-3930DEB6F4FC}"/>
              </a:ext>
            </a:extLst>
          </p:cNvPr>
          <p:cNvSpPr>
            <a:spLocks noGrp="1"/>
          </p:cNvSpPr>
          <p:nvPr/>
        </p:nvSpPr>
        <p:spPr>
          <a:xfrm>
            <a:off x="2971800" y="223837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One login experience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D8414-EF2D-4C5A-BDAC-876352EB7401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29527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B77DA8-B237-4630-800A-8857D2846E5D}"/>
              </a:ext>
            </a:extLst>
          </p:cNvPr>
          <p:cNvSpPr>
            <a:spLocks noGrp="1"/>
          </p:cNvSpPr>
          <p:nvPr/>
        </p:nvSpPr>
        <p:spPr>
          <a:xfrm>
            <a:off x="5924550" y="223837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Delegated access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2A3995-AA06-4311-BE9E-C445FF292230}"/>
              </a:ext>
            </a:extLst>
          </p:cNvPr>
          <p:cNvSpPr>
            <a:spLocks noGrp="1"/>
          </p:cNvSpPr>
          <p:nvPr/>
        </p:nvSpPr>
        <p:spPr>
          <a:xfrm>
            <a:off x="8763000" y="2095500"/>
            <a:ext cx="29337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F9F81D-1C35-47A8-887B-8899CE089E4D}"/>
              </a:ext>
            </a:extLst>
          </p:cNvPr>
          <p:cNvSpPr>
            <a:spLocks noGrp="1"/>
          </p:cNvSpPr>
          <p:nvPr/>
        </p:nvSpPr>
        <p:spPr>
          <a:xfrm>
            <a:off x="8877300" y="2238375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User authentication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EA7082-3D3C-493A-A4C7-63AFF6FF22AA}"/>
              </a:ext>
            </a:extLst>
          </p:cNvPr>
          <p:cNvSpPr>
            <a:spLocks noGrp="1"/>
          </p:cNvSpPr>
          <p:nvPr/>
        </p:nvSpPr>
        <p:spPr>
          <a:xfrm>
            <a:off x="495300" y="2838450"/>
            <a:ext cx="23622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FEB727-2992-4828-A072-0F32C8770377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Main artifact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21EFFE-947B-4C38-A3C8-F4CE83B5A3FC}"/>
              </a:ext>
            </a:extLst>
          </p:cNvPr>
          <p:cNvSpPr>
            <a:spLocks noGrp="1"/>
          </p:cNvSpPr>
          <p:nvPr/>
        </p:nvSpPr>
        <p:spPr>
          <a:xfrm>
            <a:off x="2857500" y="2838450"/>
            <a:ext cx="2952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DD149B-F7A7-4937-932B-0DAF775AC567}"/>
              </a:ext>
            </a:extLst>
          </p:cNvPr>
          <p:cNvSpPr>
            <a:spLocks noGrp="1"/>
          </p:cNvSpPr>
          <p:nvPr/>
        </p:nvSpPr>
        <p:spPr>
          <a:xfrm>
            <a:off x="2971800" y="298132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Shared session / assertion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1E781F-1EFD-4FB4-9BFE-3566D3CF0012}"/>
              </a:ext>
            </a:extLst>
          </p:cNvPr>
          <p:cNvSpPr>
            <a:spLocks noGrp="1"/>
          </p:cNvSpPr>
          <p:nvPr/>
        </p:nvSpPr>
        <p:spPr>
          <a:xfrm>
            <a:off x="5810250" y="2838450"/>
            <a:ext cx="2952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7711CA-9262-49C3-BE9C-162730409F91}"/>
              </a:ext>
            </a:extLst>
          </p:cNvPr>
          <p:cNvSpPr>
            <a:spLocks noGrp="1"/>
          </p:cNvSpPr>
          <p:nvPr/>
        </p:nvSpPr>
        <p:spPr>
          <a:xfrm>
            <a:off x="5924550" y="298132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Access token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7A4748-0F33-45BC-B0D7-C8FE8C32D6BE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9337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D37812-A267-49FF-9E19-AA68A55DB61B}"/>
              </a:ext>
            </a:extLst>
          </p:cNvPr>
          <p:cNvSpPr>
            <a:spLocks noGrp="1"/>
          </p:cNvSpPr>
          <p:nvPr/>
        </p:nvSpPr>
        <p:spPr>
          <a:xfrm>
            <a:off x="8877300" y="2981325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ID token + claims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48F22B-4FD0-45E5-AE1B-1C24A075C852}"/>
              </a:ext>
            </a:extLst>
          </p:cNvPr>
          <p:cNvSpPr>
            <a:spLocks noGrp="1"/>
          </p:cNvSpPr>
          <p:nvPr/>
        </p:nvSpPr>
        <p:spPr>
          <a:xfrm>
            <a:off x="495300" y="3581400"/>
            <a:ext cx="23622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35AAD1-C1AC-4181-BFBF-846BE14CB510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5B1B3B-378B-48EF-A54F-82135231F484}"/>
              </a:ext>
            </a:extLst>
          </p:cNvPr>
          <p:cNvSpPr>
            <a:spLocks noGrp="1"/>
          </p:cNvSpPr>
          <p:nvPr/>
        </p:nvSpPr>
        <p:spPr>
          <a:xfrm>
            <a:off x="2857500" y="3581400"/>
            <a:ext cx="29527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F29E58-7FFD-4FDB-AC79-CAF36F5C28EB}"/>
              </a:ext>
            </a:extLst>
          </p:cNvPr>
          <p:cNvSpPr>
            <a:spLocks noGrp="1"/>
          </p:cNvSpPr>
          <p:nvPr/>
        </p:nvSpPr>
        <p:spPr>
          <a:xfrm>
            <a:off x="2971800" y="372427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Workforce app access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FB5B799-122C-46D8-A54F-0DD17B927E45}"/>
              </a:ext>
            </a:extLst>
          </p:cNvPr>
          <p:cNvSpPr>
            <a:spLocks noGrp="1"/>
          </p:cNvSpPr>
          <p:nvPr/>
        </p:nvSpPr>
        <p:spPr>
          <a:xfrm>
            <a:off x="5810250" y="3581400"/>
            <a:ext cx="29527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37F35B-61A7-4FFC-A08A-944F634D509D}"/>
              </a:ext>
            </a:extLst>
          </p:cNvPr>
          <p:cNvSpPr>
            <a:spLocks noGrp="1"/>
          </p:cNvSpPr>
          <p:nvPr/>
        </p:nvSpPr>
        <p:spPr>
          <a:xfrm>
            <a:off x="5924550" y="372427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APIs and third-party clients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9284A22-9883-4A69-93CC-A955FA45F7B5}"/>
              </a:ext>
            </a:extLst>
          </p:cNvPr>
          <p:cNvSpPr>
            <a:spLocks noGrp="1"/>
          </p:cNvSpPr>
          <p:nvPr/>
        </p:nvSpPr>
        <p:spPr>
          <a:xfrm>
            <a:off x="8763000" y="3581400"/>
            <a:ext cx="29337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CBC21E-0B6F-4E65-858C-FDF36FDDE13F}"/>
              </a:ext>
            </a:extLst>
          </p:cNvPr>
          <p:cNvSpPr>
            <a:spLocks noGrp="1"/>
          </p:cNvSpPr>
          <p:nvPr/>
        </p:nvSpPr>
        <p:spPr>
          <a:xfrm>
            <a:off x="8877300" y="3724275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Modern application sign-in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B39AA2-A449-4E15-B977-FAAC9F5DF1CA}"/>
              </a:ext>
            </a:extLst>
          </p:cNvPr>
          <p:cNvSpPr>
            <a:spLocks noGrp="1"/>
          </p:cNvSpPr>
          <p:nvPr/>
        </p:nvSpPr>
        <p:spPr>
          <a:xfrm>
            <a:off x="495300" y="4324350"/>
            <a:ext cx="23622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340FD7-5217-44FD-8095-2E1ACB10E9F6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Key risk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951352-68A8-4530-BB0F-0333FE141AA6}"/>
              </a:ext>
            </a:extLst>
          </p:cNvPr>
          <p:cNvSpPr>
            <a:spLocks noGrp="1"/>
          </p:cNvSpPr>
          <p:nvPr/>
        </p:nvSpPr>
        <p:spPr>
          <a:xfrm>
            <a:off x="2857500" y="4324350"/>
            <a:ext cx="2952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05E42E-58B6-42AC-B312-A7596B4FC04C}"/>
              </a:ext>
            </a:extLst>
          </p:cNvPr>
          <p:cNvSpPr>
            <a:spLocks noGrp="1"/>
          </p:cNvSpPr>
          <p:nvPr/>
        </p:nvSpPr>
        <p:spPr>
          <a:xfrm>
            <a:off x="2971800" y="446722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Large blast radius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C1ACB3C-15EE-4D39-B016-391F60F242C0}"/>
              </a:ext>
            </a:extLst>
          </p:cNvPr>
          <p:cNvSpPr>
            <a:spLocks noGrp="1"/>
          </p:cNvSpPr>
          <p:nvPr/>
        </p:nvSpPr>
        <p:spPr>
          <a:xfrm>
            <a:off x="5810250" y="4324350"/>
            <a:ext cx="2952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0A9625-9B0F-4C23-BC25-64EDB62308A7}"/>
              </a:ext>
            </a:extLst>
          </p:cNvPr>
          <p:cNvSpPr>
            <a:spLocks noGrp="1"/>
          </p:cNvSpPr>
          <p:nvPr/>
        </p:nvSpPr>
        <p:spPr>
          <a:xfrm>
            <a:off x="5924550" y="446722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Token or scope misuse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655763-9337-4291-903F-C78CCB7DE616}"/>
              </a:ext>
            </a:extLst>
          </p:cNvPr>
          <p:cNvSpPr>
            <a:spLocks noGrp="1"/>
          </p:cNvSpPr>
          <p:nvPr/>
        </p:nvSpPr>
        <p:spPr>
          <a:xfrm>
            <a:off x="8763000" y="4324350"/>
            <a:ext cx="29337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074A9A-D134-4760-AA08-71908DF1A195}"/>
              </a:ext>
            </a:extLst>
          </p:cNvPr>
          <p:cNvSpPr>
            <a:spLocks noGrp="1"/>
          </p:cNvSpPr>
          <p:nvPr/>
        </p:nvSpPr>
        <p:spPr>
          <a:xfrm>
            <a:off x="8877300" y="4467225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Incorrect token validation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03A518-3F4C-4713-AD4E-6F212C25AD78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23622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E96B8B-7898-4283-9A0B-087490580CF3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alone?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6F9B400-A153-4913-B1D2-2C6DD88CDD10}"/>
              </a:ext>
            </a:extLst>
          </p:cNvPr>
          <p:cNvSpPr>
            <a:spLocks noGrp="1"/>
          </p:cNvSpPr>
          <p:nvPr/>
        </p:nvSpPr>
        <p:spPr>
          <a:xfrm>
            <a:off x="2857500" y="5067300"/>
            <a:ext cx="29527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D4C1CFE-27AF-43E5-995B-7F4659406D71}"/>
              </a:ext>
            </a:extLst>
          </p:cNvPr>
          <p:cNvSpPr>
            <a:spLocks noGrp="1"/>
          </p:cNvSpPr>
          <p:nvPr/>
        </p:nvSpPr>
        <p:spPr>
          <a:xfrm>
            <a:off x="2971800" y="521017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Needs a federation method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2CDB43-8C1F-43E7-AC24-636B2880DDA6}"/>
              </a:ext>
            </a:extLst>
          </p:cNvPr>
          <p:cNvSpPr>
            <a:spLocks noGrp="1"/>
          </p:cNvSpPr>
          <p:nvPr/>
        </p:nvSpPr>
        <p:spPr>
          <a:xfrm>
            <a:off x="5810250" y="5067300"/>
            <a:ext cx="295275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43DD1B-EE4A-4CDC-8527-BFF324CDE9E7}"/>
              </a:ext>
            </a:extLst>
          </p:cNvPr>
          <p:cNvSpPr>
            <a:spLocks noGrp="1"/>
          </p:cNvSpPr>
          <p:nvPr/>
        </p:nvSpPr>
        <p:spPr>
          <a:xfrm>
            <a:off x="5924550" y="5210175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Not for login by itself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B9B7647-7DE7-46B7-B2F7-02D4EA3503CD}"/>
              </a:ext>
            </a:extLst>
          </p:cNvPr>
          <p:cNvSpPr>
            <a:spLocks noGrp="1"/>
          </p:cNvSpPr>
          <p:nvPr/>
        </p:nvSpPr>
        <p:spPr>
          <a:xfrm>
            <a:off x="8763000" y="5067300"/>
            <a:ext cx="2933700" cy="7429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E9D42D-102C-468C-B150-20EAD094B4C3}"/>
              </a:ext>
            </a:extLst>
          </p:cNvPr>
          <p:cNvSpPr>
            <a:spLocks noGrp="1"/>
          </p:cNvSpPr>
          <p:nvPr/>
        </p:nvSpPr>
        <p:spPr>
          <a:xfrm>
            <a:off x="8877300" y="5210175"/>
            <a:ext cx="2705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Often paired with OAuth</a:t>
            </a:r>
          </a:p>
        </p:txBody>
      </p:sp>
    </p:spTree>
    <p:extLst>
      <p:ext uri="{BB962C8B-B14F-4D97-AF65-F5344CB8AC3E}">
        <p14:creationId xmlns:p14="http://schemas.microsoft.com/office/powerpoint/2010/main" val="1210188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8-title">
            <a:extLst>
              <a:ext uri="{FF2B5EF4-FFF2-40B4-BE49-F238E27FC236}">
                <a16:creationId xmlns:a16="http://schemas.microsoft.com/office/drawing/2014/main" id="{333126BD-5D4A-474A-88D9-525362FEA65B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683"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Recommendation: combine the standards and roll them out in phases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41095D-CB09-414A-9741-017ECD286570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4BEDB-08BC-4B33-9B80-0030A4C068EA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708F41-F3DC-4B18-A72B-034E0AD7B7D0}"/>
              </a:ext>
            </a:extLst>
          </p:cNvPr>
          <p:cNvSpPr>
            <a:spLocks noGrp="1"/>
          </p:cNvSpPr>
          <p:nvPr/>
        </p:nvSpPr>
        <p:spPr>
          <a:xfrm>
            <a:off x="495300" y="1381125"/>
            <a:ext cx="1066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875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Mesusa should treat these technologies as layers of one identity architecture.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380A71-EEF9-456E-AD09-BDF978A6301C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9814B-0A36-42C5-A37F-9C504373FCDD}"/>
              </a:ext>
            </a:extLst>
          </p:cNvPr>
          <p:cNvSpPr>
            <a:spLocks noGrp="1"/>
          </p:cNvSpPr>
          <p:nvPr/>
        </p:nvSpPr>
        <p:spPr>
          <a:xfrm>
            <a:off x="974271" y="5532665"/>
            <a:ext cx="10287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E1E5B3-7B35-48E5-B7A3-FA7678D5C0A7}"/>
              </a:ext>
            </a:extLst>
          </p:cNvPr>
          <p:cNvSpPr>
            <a:spLocks noGrp="1"/>
          </p:cNvSpPr>
          <p:nvPr/>
        </p:nvSpPr>
        <p:spPr>
          <a:xfrm>
            <a:off x="1428750" y="204787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Centralize identity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327197-3342-473C-8E97-41FB75788115}"/>
              </a:ext>
            </a:extLst>
          </p:cNvPr>
          <p:cNvSpPr>
            <a:spLocks noGrp="1"/>
          </p:cNvSpPr>
          <p:nvPr/>
        </p:nvSpPr>
        <p:spPr>
          <a:xfrm>
            <a:off x="4286250" y="2047875"/>
            <a:ext cx="700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Choose the identity provider, enforce MFA, and establish lifecycle governance.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2490F4-5F97-43DB-838F-B5986623B1A8}"/>
              </a:ext>
            </a:extLst>
          </p:cNvPr>
          <p:cNvSpPr>
            <a:spLocks noGrp="1"/>
          </p:cNvSpPr>
          <p:nvPr/>
        </p:nvSpPr>
        <p:spPr>
          <a:xfrm>
            <a:off x="571500" y="301942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94285F-5BCA-4669-9AB3-BF263C4B8A1C}"/>
              </a:ext>
            </a:extLst>
          </p:cNvPr>
          <p:cNvSpPr>
            <a:spLocks noGrp="1"/>
          </p:cNvSpPr>
          <p:nvPr/>
        </p:nvSpPr>
        <p:spPr>
          <a:xfrm>
            <a:off x="953861" y="2714625"/>
            <a:ext cx="10287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C00637-F06A-4859-8E03-EF11E42D63DF}"/>
              </a:ext>
            </a:extLst>
          </p:cNvPr>
          <p:cNvSpPr>
            <a:spLocks noGrp="1"/>
          </p:cNvSpPr>
          <p:nvPr/>
        </p:nvSpPr>
        <p:spPr>
          <a:xfrm>
            <a:off x="1428750" y="301942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Deliver SSO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0BC8E-A777-4024-920D-55F12A495AE1}"/>
              </a:ext>
            </a:extLst>
          </p:cNvPr>
          <p:cNvSpPr>
            <a:spLocks noGrp="1"/>
          </p:cNvSpPr>
          <p:nvPr/>
        </p:nvSpPr>
        <p:spPr>
          <a:xfrm>
            <a:off x="4286250" y="3019425"/>
            <a:ext cx="700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Connect high-value applications first; test failure, logout, and recovery paths.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2A0190-2849-4399-94E0-F25DA1B283D8}"/>
              </a:ext>
            </a:extLst>
          </p:cNvPr>
          <p:cNvSpPr>
            <a:spLocks noGrp="1"/>
          </p:cNvSpPr>
          <p:nvPr/>
        </p:nvSpPr>
        <p:spPr>
          <a:xfrm>
            <a:off x="571500" y="399097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7547C-F53D-43E9-83CA-DEBB0DDA02B2}"/>
              </a:ext>
            </a:extLst>
          </p:cNvPr>
          <p:cNvSpPr>
            <a:spLocks noGrp="1"/>
          </p:cNvSpPr>
          <p:nvPr/>
        </p:nvSpPr>
        <p:spPr>
          <a:xfrm>
            <a:off x="953861" y="3686175"/>
            <a:ext cx="10287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4AFBE-E23A-4D8F-A172-7A6DF34D88BD}"/>
              </a:ext>
            </a:extLst>
          </p:cNvPr>
          <p:cNvSpPr>
            <a:spLocks noGrp="1"/>
          </p:cNvSpPr>
          <p:nvPr/>
        </p:nvSpPr>
        <p:spPr>
          <a:xfrm>
            <a:off x="1428750" y="399097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846"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Standardize modern apps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41DC19-1E33-4F54-A31F-F9CD5C294616}"/>
              </a:ext>
            </a:extLst>
          </p:cNvPr>
          <p:cNvSpPr>
            <a:spLocks noGrp="1"/>
          </p:cNvSpPr>
          <p:nvPr/>
        </p:nvSpPr>
        <p:spPr>
          <a:xfrm>
            <a:off x="4286250" y="3990975"/>
            <a:ext cx="700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OpenID Connect for sign-in and OAuth 2.0 with PKCE for API access.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566078-1701-49FF-A5CC-FBAA89FB796D}"/>
              </a:ext>
            </a:extLst>
          </p:cNvPr>
          <p:cNvSpPr>
            <a:spLocks noGrp="1"/>
          </p:cNvSpPr>
          <p:nvPr/>
        </p:nvSpPr>
        <p:spPr>
          <a:xfrm>
            <a:off x="571500" y="4962525"/>
            <a:ext cx="523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25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2754AF-710E-4F8A-9A43-CC61532F949E}"/>
              </a:ext>
            </a:extLst>
          </p:cNvPr>
          <p:cNvSpPr>
            <a:spLocks noGrp="1"/>
          </p:cNvSpPr>
          <p:nvPr/>
        </p:nvSpPr>
        <p:spPr>
          <a:xfrm>
            <a:off x="953861" y="4650921"/>
            <a:ext cx="102870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9E3609-8FAB-4D80-AD83-3FF3F5D6DFF5}"/>
              </a:ext>
            </a:extLst>
          </p:cNvPr>
          <p:cNvSpPr>
            <a:spLocks noGrp="1"/>
          </p:cNvSpPr>
          <p:nvPr/>
        </p:nvSpPr>
        <p:spPr>
          <a:xfrm>
            <a:off x="1428750" y="4962525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Operate securely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075405-02D7-4218-86B3-46C42A8B77A7}"/>
              </a:ext>
            </a:extLst>
          </p:cNvPr>
          <p:cNvSpPr>
            <a:spLocks noGrp="1"/>
          </p:cNvSpPr>
          <p:nvPr/>
        </p:nvSpPr>
        <p:spPr>
          <a:xfrm>
            <a:off x="4286250" y="4962525"/>
            <a:ext cx="7000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Use least-privilege scopes, short token lifetimes, logging, reviews, and incident playbooks.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684ECB-AF2F-4486-9B47-570B2623DB23}"/>
              </a:ext>
            </a:extLst>
          </p:cNvPr>
          <p:cNvSpPr>
            <a:spLocks noGrp="1"/>
          </p:cNvSpPr>
          <p:nvPr/>
        </p:nvSpPr>
        <p:spPr>
          <a:xfrm>
            <a:off x="495300" y="6048375"/>
            <a:ext cx="1066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defRPr sz="15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Outcome: fewer login barriers, clearer authorization boundaries, and a standards-based path for growth.</a:t>
            </a:r>
          </a:p>
        </p:txBody>
      </p:sp>
    </p:spTree>
    <p:extLst>
      <p:ext uri="{BB962C8B-B14F-4D97-AF65-F5344CB8AC3E}">
        <p14:creationId xmlns:p14="http://schemas.microsoft.com/office/powerpoint/2010/main" val="1183719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9-title">
            <a:extLst>
              <a:ext uri="{FF2B5EF4-FFF2-40B4-BE49-F238E27FC236}">
                <a16:creationId xmlns:a16="http://schemas.microsoft.com/office/drawing/2014/main" id="{22A34523-D72E-4870-B1D4-C09B3D8051D4}"/>
              </a:ext>
            </a:extLst>
          </p:cNvPr>
          <p:cNvSpPr>
            <a:spLocks noGrp="1"/>
          </p:cNvSpPr>
          <p:nvPr/>
        </p:nvSpPr>
        <p:spPr>
          <a:xfrm>
            <a:off x="495300" y="361950"/>
            <a:ext cx="1076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29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63EC8F-3F4A-4849-BAC4-2EBBEC6E81F3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1201400" cy="285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5C1051-E2AA-41D7-847E-3DC55CCBEA15}"/>
              </a:ext>
            </a:extLst>
          </p:cNvPr>
          <p:cNvSpPr>
            <a:spLocks noGrp="1"/>
          </p:cNvSpPr>
          <p:nvPr/>
        </p:nvSpPr>
        <p:spPr>
          <a:xfrm>
            <a:off x="11220450" y="63627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B0F041-DCE9-492B-BCAB-76CD1A8ECF6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572750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Internet Engineering Task Force. (2012). OAuth 2.0 Authorization Framework (RFC 6749).</a:t>
            </a:r>
          </a:p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https://www.rfc-editor.org/rfc/rfc6749.html</a:t>
            </a:r>
          </a:p>
          <a:p>
            <a:endParaRPr sz="1500" b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Lodderstedt</a:t>
            </a: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, T., et al. (2025). Best Current Practice for OAuth 2.0 Security (RFC 9700).</a:t>
            </a:r>
          </a:p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https://www.rfc-editor.org/rfc/rfc9700.html</a:t>
            </a:r>
          </a:p>
          <a:p>
            <a:endParaRPr sz="1500" b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OpenID Foundation. (2023). OpenID Connect Core 1.0 incorporating errata set 2.</a:t>
            </a:r>
            <a:endParaRPr lang="en-GB" sz="150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https://openid.net/specs/openid-connect-core-1_0.html</a:t>
            </a:r>
            <a:endParaRPr/>
          </a:p>
          <a:p>
            <a:endParaRPr sz="1500" b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National Institute of Standards and Technology. (2025). Digital Identity Guidelines: Federation and Assertions (SP 800-63C-4).</a:t>
            </a:r>
            <a:endParaRPr lang="en-GB" sz="150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https://pages.nist.gov/800-63-4/sp800-63c.html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34166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16</cp:revision>
  <dcterms:created xsi:type="dcterms:W3CDTF">2026-08-16T18:51:13Z</dcterms:created>
  <dcterms:modified xsi:type="dcterms:W3CDTF">2026-08-16T19:09:05Z</dcterms:modified>
</cp:coreProperties>
</file>